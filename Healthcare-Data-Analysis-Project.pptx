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itter Medium" panose="020B0604020202020204" charset="0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40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Healthcare Data Analysis Project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· MySQL · Power BI — transforming </a:t>
            </a:r>
            <a:r>
              <a:rPr lang="en-US" sz="110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55,500 patient records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into actionable insights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132" y="35398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at a Glance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34132" y="966267"/>
            <a:ext cx="4846737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55,500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082180" y="15189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4132" y="1991841"/>
            <a:ext cx="4846737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16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082180" y="254451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Columns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4132" y="3017416"/>
            <a:ext cx="4846737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$21,835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082180" y="357008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Avg Billing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4132" y="4042990"/>
            <a:ext cx="4846737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17.8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082180" y="45956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Avg Stay (days)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28910"/>
            <a:ext cx="4769048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Pipeline: Python → MySQL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904503"/>
            <a:ext cx="8253487" cy="36203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46502" y="3195718"/>
            <a:ext cx="1247392" cy="44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Clean &amp; Validate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946502" y="3705941"/>
            <a:ext cx="1247392" cy="493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 nulls, duplicates, datetimes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909170" y="3583721"/>
            <a:ext cx="1247392" cy="223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Load to MySQL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09170" y="3870597"/>
            <a:ext cx="1247392" cy="32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55,500 rows via SQLAlchemy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8845" y="1229894"/>
            <a:ext cx="1247392" cy="223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Load &amp; Explore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8845" y="1516770"/>
            <a:ext cx="1247392" cy="32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Pandas, NumPy, Matplotlib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5630" y="1229894"/>
            <a:ext cx="1247392" cy="223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55630" y="1516770"/>
            <a:ext cx="1247392" cy="49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age groups and risk categories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5219" y="4638377"/>
            <a:ext cx="869878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Libraries: Pandas, NumPy, Matplotlib, Seaborn, SQLAlchemy — connected to MySQL via Jupyter Notebook</a:t>
            </a:r>
            <a:endParaRPr lang="en-US" sz="900" dirty="0"/>
          </a:p>
        </p:txBody>
      </p:sp>
      <p:pic>
        <p:nvPicPr>
          <p:cNvPr id="14" name="Picture 13" descr="The image is a plain white background.&#10;&#10;AI-generated content may be incorrect.">
            <a:extLst>
              <a:ext uri="{FF2B5EF4-FFF2-40B4-BE49-F238E27FC236}">
                <a16:creationId xmlns:a16="http://schemas.microsoft.com/office/drawing/2014/main" id="{360DC354-8F7D-08C1-E7E3-4B88A53F1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363" y="4814738"/>
            <a:ext cx="127635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1283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Costliest Medical Conditions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433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Top 3 by Patient Volume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 — 7,046 patients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Diabetes — 7,005 patients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Obesity — 6,994 patients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74744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Cancer alone accounts for </a:t>
            </a:r>
            <a:r>
              <a:rPr lang="en-US" sz="110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$447M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total billing</a:t>
            </a:r>
            <a:endParaRPr lang="en-US" sz="1100" dirty="0"/>
          </a:p>
        </p:txBody>
      </p:sp>
      <p:pic>
        <p:nvPicPr>
          <p:cNvPr id="8" name="Picture 7" descr="The image is a plain white background.&#10;&#10;AI-generated content may be incorrect.">
            <a:extLst>
              <a:ext uri="{FF2B5EF4-FFF2-40B4-BE49-F238E27FC236}">
                <a16:creationId xmlns:a16="http://schemas.microsoft.com/office/drawing/2014/main" id="{6B69DF99-38B9-D2A4-83EB-A7CB49202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668" y="4782909"/>
            <a:ext cx="127635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40160"/>
            <a:ext cx="49480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Critical Cases by Age Group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95748"/>
            <a:ext cx="2290465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8422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Elderly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148780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12,148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critical cases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95748"/>
            <a:ext cx="2290539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8422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Senior Adult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148780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8,118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critical cases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663875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28103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Adult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11690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435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critical cases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36497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conditions: Cancer, Heart Disease, Alzheimer — concentrated in older age groups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3310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Hospital &amp; Insurance Insights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Northwestern Memorial leads in total revenue and emergency cases (5,122)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Cigna bears the highest cancer treatment cost: </a:t>
            </a:r>
            <a:r>
              <a:rPr lang="en-US" sz="110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$90.9M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4 hospitals generate near-equal average billing (~$21.8K)</a:t>
            </a:r>
            <a:endParaRPr lang="en-US" sz="1100" dirty="0"/>
          </a:p>
        </p:txBody>
      </p:sp>
      <p:pic>
        <p:nvPicPr>
          <p:cNvPr id="7" name="Picture 6" descr="The image is a plain white background.&#10;&#10;AI-generated content may be incorrect.">
            <a:extLst>
              <a:ext uri="{FF2B5EF4-FFF2-40B4-BE49-F238E27FC236}">
                <a16:creationId xmlns:a16="http://schemas.microsoft.com/office/drawing/2014/main" id="{3387C55B-11E5-FF32-85B5-C424A3E0A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855" y="4795156"/>
            <a:ext cx="127635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127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Length of Stay &amp; Admissions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Notable Patterns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Alzheimer patients average </a:t>
            </a:r>
            <a:r>
              <a:rPr lang="en-US" sz="110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54+ days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Emergency admissions: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36.22%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all cases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Routine admissions have the longest average stay</a:t>
            </a:r>
            <a:endParaRPr lang="en-US" sz="1100" dirty="0"/>
          </a:p>
        </p:txBody>
      </p:sp>
      <p:pic>
        <p:nvPicPr>
          <p:cNvPr id="7" name="Picture 6" descr="The image is a plain white background.&#10;&#10;AI-generated content may be incorrect.">
            <a:extLst>
              <a:ext uri="{FF2B5EF4-FFF2-40B4-BE49-F238E27FC236}">
                <a16:creationId xmlns:a16="http://schemas.microsoft.com/office/drawing/2014/main" id="{6EBB7840-A228-19AC-A6B4-270B49FCE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445" y="4785630"/>
            <a:ext cx="127635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5469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310283"/>
            <a:ext cx="283518" cy="283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3589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Financial KPIs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56816" y="166546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 $1.21B · Avg Billing $21.84K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75793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224460"/>
            <a:ext cx="18176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Hospital Performance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6816" y="253097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by hospital · Occupancy trends · Emergency rates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41303"/>
            <a:ext cx="283518" cy="28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08997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Patient Analysis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56816" y="339648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groups · Disease distribution · Gender trends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906813"/>
            <a:ext cx="283518" cy="28351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6816" y="39554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Clinical Metrics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56816" y="426199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result distribution · Risk categories · Stay duration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Findings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782366"/>
            <a:ext cx="4024015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Cost Concentration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24968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Cancer, Heart Disease &amp; Alzheimer drive </a:t>
            </a:r>
            <a:r>
              <a:rPr lang="en-US" sz="110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~80%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total billing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1782366"/>
            <a:ext cx="4024089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0801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Age Risk Gap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60801" y="2249686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Elderly account for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58%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all critical cases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005882"/>
            <a:ext cx="4024015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077" y="3166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Emergency Volume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14077" y="3473202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36.22%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admissions are emergency — straining resources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3005882"/>
            <a:ext cx="4024089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60801" y="3166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Diagnostic Gaps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60801" y="3473202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UChicago &amp; Northwestern lead in inconclusive test results</a:t>
            </a:r>
            <a:endParaRPr lang="en-US" sz="1100" dirty="0"/>
          </a:p>
        </p:txBody>
      </p:sp>
      <p:pic>
        <p:nvPicPr>
          <p:cNvPr id="16" name="Picture 15" descr="The image is a plain white background.&#10;&#10;AI-generated content may be incorrect.">
            <a:extLst>
              <a:ext uri="{FF2B5EF4-FFF2-40B4-BE49-F238E27FC236}">
                <a16:creationId xmlns:a16="http://schemas.microsoft.com/office/drawing/2014/main" id="{07D6824E-7381-98EF-AA14-DB28F17A7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528" y="4770663"/>
            <a:ext cx="127635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1088"/>
            <a:ext cx="51464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3759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anose="020B060402020202020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100" dirty="0">
              <a:latin typeface="Bitter Medium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559496"/>
            <a:ext cx="4004965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668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Preventive Care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974949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detection for high-cost conditions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33759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anose="020B060402020202020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100" dirty="0">
              <a:latin typeface="Bitter Medium" panose="020B06040202020202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42842" y="1559496"/>
            <a:ext cx="4005039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668438"/>
            <a:ext cx="18994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Resource Optimization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1974949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 staffing with admission patterns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44978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anose="020B060402020202020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100" dirty="0">
              <a:latin typeface="Bitter Medium" panose="020B06040202020202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6119" y="2671688"/>
            <a:ext cx="4004965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2780630"/>
            <a:ext cx="19487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Insurance Partnerships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08714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Collaborate on high-cost categories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244978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anose="020B060402020202020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100" dirty="0">
              <a:latin typeface="Bitter Medium" panose="020B06040202020202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42842" y="2671688"/>
            <a:ext cx="4005039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2780630"/>
            <a:ext cx="18155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Reduce Length of Stay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087142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 pathways for extended hospitalization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356197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anose="020B0604020202020204" charset="0"/>
                <a:ea typeface="Bitter Light" pitchFamily="34" charset="-122"/>
                <a:cs typeface="Bitter Light" pitchFamily="34" charset="-120"/>
              </a:rPr>
              <a:t>05</a:t>
            </a:r>
            <a:endParaRPr lang="en-US" sz="1100" dirty="0">
              <a:latin typeface="Bitter Medium" panose="020B06040202020202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6119" y="3783881"/>
            <a:ext cx="4004965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38928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Diagnostic Accuracy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6119" y="4199334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processes at high inconclusive-rate hospitals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2842" y="356197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anose="020B0604020202020204" charset="0"/>
                <a:ea typeface="Bitter Light" pitchFamily="34" charset="-122"/>
                <a:cs typeface="Bitter Light" pitchFamily="34" charset="-120"/>
              </a:rPr>
              <a:t>06</a:t>
            </a:r>
            <a:endParaRPr lang="en-US" sz="1100" dirty="0">
              <a:latin typeface="Bitter Medium" panose="020B06040202020202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42842" y="3783881"/>
            <a:ext cx="4005039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25" name="Text 23"/>
          <p:cNvSpPr/>
          <p:nvPr/>
        </p:nvSpPr>
        <p:spPr>
          <a:xfrm>
            <a:off x="4642842" y="3892823"/>
            <a:ext cx="21623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Monitor Critical Segments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42842" y="4199334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programs for high-risk age groups</a:t>
            </a:r>
            <a:endParaRPr lang="en-US" sz="1100" dirty="0"/>
          </a:p>
        </p:txBody>
      </p:sp>
      <p:pic>
        <p:nvPicPr>
          <p:cNvPr id="28" name="Picture 27" descr="The image is a plain white background.&#10;&#10;AI-generated content may be incorrect.">
            <a:extLst>
              <a:ext uri="{FF2B5EF4-FFF2-40B4-BE49-F238E27FC236}">
                <a16:creationId xmlns:a16="http://schemas.microsoft.com/office/drawing/2014/main" id="{B9A9E684-6185-E3C8-DB78-862C132AA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184" y="4778828"/>
            <a:ext cx="1276359" cy="3048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383</Words>
  <Application>Microsoft Office PowerPoint</Application>
  <PresentationFormat>On-screen Show (16:9)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Bitter Medium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Monika Yadav</cp:lastModifiedBy>
  <cp:revision>3</cp:revision>
  <dcterms:created xsi:type="dcterms:W3CDTF">2026-06-04T13:39:41Z</dcterms:created>
  <dcterms:modified xsi:type="dcterms:W3CDTF">2026-06-04T13:07:17Z</dcterms:modified>
</cp:coreProperties>
</file>